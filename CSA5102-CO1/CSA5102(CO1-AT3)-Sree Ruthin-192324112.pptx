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Exo" charset="0"/>
      <p:regular r:id="rId13"/>
    </p:embeddedFont>
    <p:embeddedFont>
      <p:font typeface="Exo Bold" pitchFamily="2" charset="77"/>
      <p:regular r:id="rId14"/>
    </p:embeddedFont>
    <p:embeddedFont>
      <p:font typeface="Exo SemiBold" charset="0"/>
      <p:regular r:id="rId15"/>
    </p:embeddedFont>
    <p:embeddedFont>
      <p:font typeface="Fira Mono" panose="020B0509050000020004" pitchFamily="49" charset="0"/>
      <p:regular r:id="rId16"/>
    </p:embeddedFont>
    <p:embeddedFont>
      <p:font typeface="Fira Mono Bold" panose="020B0809050000020004" pitchFamily="49" charset="0"/>
      <p:regular r:id="rId17"/>
    </p:embeddedFont>
    <p:embeddedFont>
      <p:font typeface="Fira Mono Medium" panose="020B0609050000020004" pitchFamily="49" charset="0"/>
      <p:regular r:id="rId18"/>
    </p:embeddedFont>
    <p:embeddedFont>
      <p:font typeface="Michroma" pitchFamily="2" charset="77"/>
      <p:regular r:id="rId19"/>
    </p:embeddedFont>
    <p:embeddedFont>
      <p:font typeface="MuseoModerno Bold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82693C-368F-FF45-A3BC-986961D0ADF6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6C6057-BDA7-CB4C-8A00-AB1D08E8F5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319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3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2173" y="1173099"/>
            <a:ext cx="6883228" cy="978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3600" kern="100" spc="-43" dirty="0">
                <a:solidFill>
                  <a:srgbClr val="FFFFFF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Substitution vs Transposition:</a:t>
            </a:r>
            <a:endParaRPr lang="en-US" sz="3600" dirty="0"/>
          </a:p>
          <a:p>
            <a:pPr marL="0" indent="0" algn="l">
              <a:lnSpc>
                <a:spcPct val="89000"/>
              </a:lnSpc>
              <a:buNone/>
            </a:pPr>
            <a:r>
              <a:rPr lang="en-US" sz="3600" kern="100" spc="-43" dirty="0">
                <a:solidFill>
                  <a:srgbClr val="FFFFFF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Which Provides Better Security?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92173" y="2364184"/>
            <a:ext cx="1720807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sp>
        <p:nvSpPr>
          <p:cNvPr id="4" name="Text 2"/>
          <p:cNvSpPr/>
          <p:nvPr/>
        </p:nvSpPr>
        <p:spPr>
          <a:xfrm>
            <a:off x="1092173" y="2619772"/>
            <a:ext cx="6883228" cy="1167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spcAft>
                <a:spcPts val="135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Name: V. Sree Ruthin Reddy</a:t>
            </a:r>
            <a:endParaRPr lang="en-US" sz="1500" dirty="0"/>
          </a:p>
          <a:p>
            <a:pPr marL="0" indent="0" algn="l">
              <a:lnSpc>
                <a:spcPct val="118000"/>
              </a:lnSpc>
              <a:spcAft>
                <a:spcPts val="135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Reg No: 192324112</a:t>
            </a:r>
            <a:endParaRPr lang="en-US" sz="15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Course: CSA5102 Cryptography and Network Security</a:t>
            </a:r>
            <a:endParaRPr lang="en-US" sz="15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34BA04-AC3D-9B9E-2D3D-AA6E6ACCC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7645955" y="6131974"/>
            <a:ext cx="4546045" cy="7260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5848" cy="6858000"/>
          </a:xfrm>
          <a:prstGeom prst="rect">
            <a:avLst/>
          </a:prstGeom>
          <a:solidFill>
            <a:srgbClr val="0E1F40"/>
          </a:solidFill>
          <a:ln/>
        </p:spPr>
      </p:sp>
      <p:sp>
        <p:nvSpPr>
          <p:cNvPr id="3" name="Text 1"/>
          <p:cNvSpPr/>
          <p:nvPr/>
        </p:nvSpPr>
        <p:spPr>
          <a:xfrm>
            <a:off x="482588" y="498221"/>
            <a:ext cx="5232269" cy="1195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4400" kern="100" spc="-53" dirty="0">
                <a:solidFill>
                  <a:srgbClr val="D5D5D5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Introduction to Cryptography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82588" y="1895872"/>
            <a:ext cx="1307968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588" y="2151459"/>
            <a:ext cx="380990" cy="381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82588" y="2710259"/>
            <a:ext cx="2539936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What is cryptography?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4921" y="2151459"/>
            <a:ext cx="380990" cy="381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174921" y="2710259"/>
            <a:ext cx="2539936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Purpose of encryption</a:t>
            </a:r>
            <a:endParaRPr lang="en-US" sz="1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588" y="3133030"/>
            <a:ext cx="380990" cy="381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82588" y="3691830"/>
            <a:ext cx="2539936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Plaintext and ciphertext</a:t>
            </a:r>
            <a:endParaRPr lang="en-US" sz="15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4921" y="3133030"/>
            <a:ext cx="380990" cy="3810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174921" y="3691830"/>
            <a:ext cx="2539936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Encryption and decryption</a:t>
            </a:r>
            <a:endParaRPr lang="en-US" sz="15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588" y="4114602"/>
            <a:ext cx="380990" cy="3810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82588" y="4673402"/>
            <a:ext cx="5232269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Importance of confidentiality</a:t>
            </a:r>
            <a:endParaRPr lang="en-US" sz="1500" dirty="0"/>
          </a:p>
        </p:txBody>
      </p:sp>
      <p:sp>
        <p:nvSpPr>
          <p:cNvPr id="15" name="Shape 8"/>
          <p:cNvSpPr/>
          <p:nvPr/>
        </p:nvSpPr>
        <p:spPr>
          <a:xfrm>
            <a:off x="6527637" y="1882080"/>
            <a:ext cx="2616135" cy="977900"/>
          </a:xfrm>
          <a:custGeom>
            <a:avLst/>
            <a:gdLst/>
            <a:ahLst/>
            <a:cxnLst/>
            <a:rect l="l" t="t" r="r" b="b"/>
            <a:pathLst>
              <a:path w="2616135" h="977900">
                <a:moveTo>
                  <a:pt x="9525" y="0"/>
                </a:moveTo>
                <a:lnTo>
                  <a:pt x="2616135" y="0"/>
                </a:lnTo>
                <a:lnTo>
                  <a:pt x="2616135" y="977900"/>
                </a:lnTo>
                <a:lnTo>
                  <a:pt x="0" y="977900"/>
                </a:lnTo>
                <a:lnTo>
                  <a:pt x="0" y="9525"/>
                </a:lnTo>
                <a:arcTo wR="9525" hR="9525" stAng="10800000" swAng="5400000"/>
                <a:close/>
              </a:path>
            </a:pathLst>
          </a:custGeom>
          <a:solidFill>
            <a:srgbClr val="241B55"/>
          </a:solidFill>
          <a:ln/>
        </p:spPr>
      </p:sp>
      <p:sp>
        <p:nvSpPr>
          <p:cNvPr id="16" name="Text 9"/>
          <p:cNvSpPr/>
          <p:nvPr/>
        </p:nvSpPr>
        <p:spPr>
          <a:xfrm>
            <a:off x="6832429" y="2161480"/>
            <a:ext cx="20065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Plaintext</a:t>
            </a:r>
            <a:endParaRPr lang="en-US" sz="2500" dirty="0"/>
          </a:p>
        </p:txBody>
      </p:sp>
      <p:sp>
        <p:nvSpPr>
          <p:cNvPr id="17" name="Shape 10"/>
          <p:cNvSpPr/>
          <p:nvPr/>
        </p:nvSpPr>
        <p:spPr>
          <a:xfrm>
            <a:off x="9143771" y="1882080"/>
            <a:ext cx="2616135" cy="977900"/>
          </a:xfrm>
          <a:custGeom>
            <a:avLst/>
            <a:gdLst/>
            <a:ahLst/>
            <a:cxnLst/>
            <a:rect l="l" t="t" r="r" b="b"/>
            <a:pathLst>
              <a:path w="2616135" h="977900">
                <a:moveTo>
                  <a:pt x="0" y="0"/>
                </a:moveTo>
                <a:lnTo>
                  <a:pt x="2606610" y="0"/>
                </a:lnTo>
                <a:arcTo wR="9525" hR="9525" stAng="16200000" swAng="5400000"/>
                <a:lnTo>
                  <a:pt x="2616135" y="977900"/>
                </a:lnTo>
                <a:lnTo>
                  <a:pt x="0" y="977900"/>
                </a:lnTo>
                <a:lnTo>
                  <a:pt x="0" y="0"/>
                </a:lnTo>
                <a:close/>
              </a:path>
            </a:pathLst>
          </a:custGeom>
          <a:solidFill>
            <a:srgbClr val="0E1F40"/>
          </a:solidFill>
          <a:ln/>
        </p:spPr>
      </p:sp>
      <p:sp>
        <p:nvSpPr>
          <p:cNvPr id="18" name="Text 11"/>
          <p:cNvSpPr/>
          <p:nvPr/>
        </p:nvSpPr>
        <p:spPr>
          <a:xfrm>
            <a:off x="9448564" y="2161480"/>
            <a:ext cx="20065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Encryption</a:t>
            </a:r>
            <a:endParaRPr lang="en-US" sz="2500" dirty="0"/>
          </a:p>
        </p:txBody>
      </p:sp>
      <p:sp>
        <p:nvSpPr>
          <p:cNvPr id="19" name="Shape 12"/>
          <p:cNvSpPr/>
          <p:nvPr/>
        </p:nvSpPr>
        <p:spPr>
          <a:xfrm>
            <a:off x="6527637" y="2859980"/>
            <a:ext cx="2616135" cy="977900"/>
          </a:xfrm>
          <a:custGeom>
            <a:avLst/>
            <a:gdLst/>
            <a:ahLst/>
            <a:cxnLst/>
            <a:rect l="l" t="t" r="r" b="b"/>
            <a:pathLst>
              <a:path w="2616135" h="977900">
                <a:moveTo>
                  <a:pt x="0" y="0"/>
                </a:moveTo>
                <a:lnTo>
                  <a:pt x="2616135" y="0"/>
                </a:lnTo>
                <a:lnTo>
                  <a:pt x="2616135" y="977900"/>
                </a:lnTo>
                <a:lnTo>
                  <a:pt x="9525" y="977900"/>
                </a:lnTo>
                <a:arcTo wR="9525" hR="9525" stAng="5400000" swAng="5400000"/>
                <a:lnTo>
                  <a:pt x="0" y="0"/>
                </a:lnTo>
                <a:close/>
              </a:path>
            </a:pathLst>
          </a:custGeom>
          <a:solidFill>
            <a:srgbClr val="07303A"/>
          </a:solidFill>
          <a:ln/>
        </p:spPr>
      </p:sp>
      <p:sp>
        <p:nvSpPr>
          <p:cNvPr id="20" name="Text 13"/>
          <p:cNvSpPr/>
          <p:nvPr/>
        </p:nvSpPr>
        <p:spPr>
          <a:xfrm>
            <a:off x="6832429" y="3139380"/>
            <a:ext cx="20065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Ciphertext</a:t>
            </a:r>
            <a:endParaRPr lang="en-US" sz="2500" dirty="0"/>
          </a:p>
        </p:txBody>
      </p:sp>
      <p:sp>
        <p:nvSpPr>
          <p:cNvPr id="21" name="Shape 14"/>
          <p:cNvSpPr/>
          <p:nvPr/>
        </p:nvSpPr>
        <p:spPr>
          <a:xfrm>
            <a:off x="9143771" y="2859980"/>
            <a:ext cx="2616135" cy="977900"/>
          </a:xfrm>
          <a:custGeom>
            <a:avLst/>
            <a:gdLst/>
            <a:ahLst/>
            <a:cxnLst/>
            <a:rect l="l" t="t" r="r" b="b"/>
            <a:pathLst>
              <a:path w="2616135" h="977900">
                <a:moveTo>
                  <a:pt x="0" y="0"/>
                </a:moveTo>
                <a:lnTo>
                  <a:pt x="2616135" y="0"/>
                </a:lnTo>
                <a:lnTo>
                  <a:pt x="2616135" y="968375"/>
                </a:lnTo>
                <a:arcTo wR="9525" hR="9525" stAng="0" swAng="5400000"/>
                <a:lnTo>
                  <a:pt x="0" y="977900"/>
                </a:lnTo>
                <a:lnTo>
                  <a:pt x="0" y="0"/>
                </a:lnTo>
                <a:close/>
              </a:path>
            </a:pathLst>
          </a:custGeom>
          <a:solidFill>
            <a:srgbClr val="0E1F40"/>
          </a:solidFill>
          <a:ln/>
        </p:spPr>
      </p:sp>
      <p:sp>
        <p:nvSpPr>
          <p:cNvPr id="22" name="Text 15"/>
          <p:cNvSpPr/>
          <p:nvPr/>
        </p:nvSpPr>
        <p:spPr>
          <a:xfrm>
            <a:off x="9448564" y="3139380"/>
            <a:ext cx="200655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Decryption</a:t>
            </a:r>
            <a:endParaRPr lang="en-US" sz="2500" dirty="0"/>
          </a:p>
        </p:txBody>
      </p:sp>
      <p:sp>
        <p:nvSpPr>
          <p:cNvPr id="23" name="Shape 16"/>
          <p:cNvSpPr/>
          <p:nvPr/>
        </p:nvSpPr>
        <p:spPr>
          <a:xfrm>
            <a:off x="8280491" y="4063305"/>
            <a:ext cx="1726561" cy="38100"/>
          </a:xfrm>
          <a:prstGeom prst="roundRect">
            <a:avLst>
              <a:gd name="adj" fmla="val 49999"/>
            </a:avLst>
          </a:prstGeom>
          <a:solidFill>
            <a:srgbClr val="9BE1FF"/>
          </a:solidFill>
          <a:ln/>
        </p:spPr>
      </p:sp>
      <p:sp>
        <p:nvSpPr>
          <p:cNvPr id="24" name="Text 17"/>
          <p:cNvSpPr/>
          <p:nvPr/>
        </p:nvSpPr>
        <p:spPr>
          <a:xfrm>
            <a:off x="6527637" y="4326830"/>
            <a:ext cx="5232269" cy="649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8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Plaintext → Encryption → Ciphertext → Decryption → Plaintext</a:t>
            </a:r>
            <a:endParaRPr lang="en-US" sz="1800" dirty="0"/>
          </a:p>
        </p:txBody>
      </p:sp>
      <p:sp>
        <p:nvSpPr>
          <p:cNvPr id="25" name="Shape 18"/>
          <p:cNvSpPr/>
          <p:nvPr/>
        </p:nvSpPr>
        <p:spPr>
          <a:xfrm>
            <a:off x="9137421" y="1882080"/>
            <a:ext cx="12700" cy="9779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6" name="Shape 19"/>
          <p:cNvSpPr/>
          <p:nvPr/>
        </p:nvSpPr>
        <p:spPr>
          <a:xfrm>
            <a:off x="6527637" y="2853630"/>
            <a:ext cx="2616135" cy="127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7" name="Shape 20"/>
          <p:cNvSpPr/>
          <p:nvPr/>
        </p:nvSpPr>
        <p:spPr>
          <a:xfrm>
            <a:off x="9137421" y="2859980"/>
            <a:ext cx="12700" cy="9779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8" name="Shape 21"/>
          <p:cNvSpPr/>
          <p:nvPr/>
        </p:nvSpPr>
        <p:spPr>
          <a:xfrm>
            <a:off x="9143771" y="2853630"/>
            <a:ext cx="2616135" cy="127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9" name="Text 22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100" spc="84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02</a:t>
            </a:r>
            <a:endParaRPr lang="en-US" sz="105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6A1126F-7E4F-210C-1D38-CCDC0FCFFB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1424" y="5623338"/>
            <a:ext cx="2616134" cy="12346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0621"/>
            <a:ext cx="10972526" cy="59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4400" kern="100" spc="-53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What is Substitution Cipher?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09585" y="1450380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84" y="1705947"/>
            <a:ext cx="380990" cy="381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19170" y="1705967"/>
            <a:ext cx="4297553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Substitution replaces each character with another character.</a:t>
            </a:r>
            <a:endParaRPr lang="en-US" sz="1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984" y="2399288"/>
            <a:ext cx="380990" cy="381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19170" y="2399308"/>
            <a:ext cx="4297553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The position of characters generally remains unchanged.</a:t>
            </a:r>
            <a:endParaRPr lang="en-US" sz="15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984" y="3092629"/>
            <a:ext cx="380990" cy="3810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19170" y="3092648"/>
            <a:ext cx="4297553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Each plaintext symbol is mapped to another symbol.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5973811" y="1708190"/>
            <a:ext cx="5608299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93" dirty="0">
                <a:solidFill>
                  <a:srgbClr val="B5B5B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PLAINTEXT: HELLO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5973811" y="2001837"/>
            <a:ext cx="1869433" cy="919956"/>
          </a:xfrm>
          <a:custGeom>
            <a:avLst/>
            <a:gdLst/>
            <a:ahLst/>
            <a:cxnLst/>
            <a:rect l="l" t="t" r="r" b="b"/>
            <a:pathLst>
              <a:path w="1869433" h="919956">
                <a:moveTo>
                  <a:pt x="9525" y="0"/>
                </a:moveTo>
                <a:lnTo>
                  <a:pt x="1869433" y="0"/>
                </a:lnTo>
                <a:lnTo>
                  <a:pt x="1869433" y="919956"/>
                </a:lnTo>
                <a:lnTo>
                  <a:pt x="9525" y="919956"/>
                </a:lnTo>
                <a:arcTo wR="9525" hR="9525" stAng="5400000" swAng="5400000"/>
                <a:lnTo>
                  <a:pt x="0" y="9525"/>
                </a:lnTo>
                <a:arcTo wR="9525" hR="9525" stAng="10800000" swAng="5400000"/>
                <a:close/>
              </a:path>
            </a:pathLst>
          </a:custGeom>
          <a:solidFill>
            <a:srgbClr val="0E1F40"/>
          </a:solidFill>
          <a:ln/>
        </p:spPr>
      </p:sp>
      <p:sp>
        <p:nvSpPr>
          <p:cNvPr id="12" name="Text 7"/>
          <p:cNvSpPr/>
          <p:nvPr/>
        </p:nvSpPr>
        <p:spPr>
          <a:xfrm>
            <a:off x="6278604" y="2348103"/>
            <a:ext cx="1259848" cy="310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2600" b="1" kern="100" spc="-104" dirty="0">
                <a:solidFill>
                  <a:srgbClr val="D5D5D5"/>
                </a:solidFill>
                <a:latin typeface="MuseoModerno Bold" pitchFamily="34" charset="0"/>
                <a:ea typeface="MuseoModerno Bold" pitchFamily="34" charset="-122"/>
                <a:cs typeface="MuseoModerno Bold" pitchFamily="34" charset="-120"/>
              </a:rPr>
              <a:t>HELLO</a:t>
            </a:r>
            <a:endParaRPr lang="en-US" sz="2600" dirty="0"/>
          </a:p>
        </p:txBody>
      </p:sp>
      <p:sp>
        <p:nvSpPr>
          <p:cNvPr id="13" name="Shape 8"/>
          <p:cNvSpPr/>
          <p:nvPr/>
        </p:nvSpPr>
        <p:spPr>
          <a:xfrm>
            <a:off x="7843244" y="2001837"/>
            <a:ext cx="1869433" cy="919956"/>
          </a:xfrm>
          <a:prstGeom prst="rect">
            <a:avLst/>
          </a:prstGeom>
          <a:solidFill>
            <a:srgbClr val="241B55"/>
          </a:solidFill>
          <a:ln/>
        </p:spPr>
      </p:sp>
      <p:sp>
        <p:nvSpPr>
          <p:cNvPr id="14" name="Text 9"/>
          <p:cNvSpPr/>
          <p:nvPr/>
        </p:nvSpPr>
        <p:spPr>
          <a:xfrm>
            <a:off x="8148037" y="2348103"/>
            <a:ext cx="1259848" cy="310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2600" b="1" kern="100" spc="-104" dirty="0">
                <a:solidFill>
                  <a:srgbClr val="FFFFFF"/>
                </a:solidFill>
                <a:latin typeface="MuseoModerno Bold" pitchFamily="34" charset="0"/>
                <a:ea typeface="MuseoModerno Bold" pitchFamily="34" charset="-122"/>
                <a:cs typeface="MuseoModerno Bold" pitchFamily="34" charset="-120"/>
              </a:rPr>
              <a:t>+3</a:t>
            </a:r>
            <a:endParaRPr lang="en-US" sz="2600" dirty="0"/>
          </a:p>
        </p:txBody>
      </p:sp>
      <p:sp>
        <p:nvSpPr>
          <p:cNvPr id="15" name="Shape 10"/>
          <p:cNvSpPr/>
          <p:nvPr/>
        </p:nvSpPr>
        <p:spPr>
          <a:xfrm>
            <a:off x="9712677" y="2001837"/>
            <a:ext cx="1869433" cy="919956"/>
          </a:xfrm>
          <a:custGeom>
            <a:avLst/>
            <a:gdLst/>
            <a:ahLst/>
            <a:cxnLst/>
            <a:rect l="l" t="t" r="r" b="b"/>
            <a:pathLst>
              <a:path w="1869433" h="919956">
                <a:moveTo>
                  <a:pt x="0" y="0"/>
                </a:moveTo>
                <a:lnTo>
                  <a:pt x="1859908" y="0"/>
                </a:lnTo>
                <a:arcTo wR="9525" hR="9525" stAng="16200000" swAng="5400000"/>
                <a:lnTo>
                  <a:pt x="1869433" y="910431"/>
                </a:lnTo>
                <a:arcTo wR="9525" hR="9525" stAng="0" swAng="5400000"/>
                <a:lnTo>
                  <a:pt x="0" y="919956"/>
                </a:lnTo>
                <a:lnTo>
                  <a:pt x="0" y="0"/>
                </a:lnTo>
                <a:close/>
              </a:path>
            </a:pathLst>
          </a:custGeom>
          <a:solidFill>
            <a:srgbClr val="07303A"/>
          </a:solidFill>
          <a:ln/>
        </p:spPr>
      </p:sp>
      <p:sp>
        <p:nvSpPr>
          <p:cNvPr id="16" name="Text 11"/>
          <p:cNvSpPr/>
          <p:nvPr/>
        </p:nvSpPr>
        <p:spPr>
          <a:xfrm>
            <a:off x="10017470" y="2348103"/>
            <a:ext cx="1259848" cy="310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2600" b="1" kern="100" spc="-104" dirty="0">
                <a:solidFill>
                  <a:srgbClr val="FFFFFF"/>
                </a:solidFill>
                <a:latin typeface="MuseoModerno Bold" pitchFamily="34" charset="0"/>
                <a:ea typeface="MuseoModerno Bold" pitchFamily="34" charset="-122"/>
                <a:cs typeface="MuseoModerno Bold" pitchFamily="34" charset="-120"/>
              </a:rPr>
              <a:t>KHOOR</a:t>
            </a:r>
            <a:endParaRPr lang="en-US" sz="2600" dirty="0"/>
          </a:p>
        </p:txBody>
      </p:sp>
      <p:sp>
        <p:nvSpPr>
          <p:cNvPr id="17" name="Text 12"/>
          <p:cNvSpPr/>
          <p:nvPr/>
        </p:nvSpPr>
        <p:spPr>
          <a:xfrm>
            <a:off x="5973811" y="3037618"/>
            <a:ext cx="5608299" cy="184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kern="100" spc="11" dirty="0">
                <a:solidFill>
                  <a:srgbClr val="9D9D9D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Key: +3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973811" y="3334742"/>
            <a:ext cx="5608299" cy="324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8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Ciphertext: KHOOR</a:t>
            </a:r>
            <a:endParaRPr lang="en-US" sz="18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9211" y="3773575"/>
            <a:ext cx="380990" cy="3810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83396" y="3774920"/>
            <a:ext cx="4998714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Caesar Cipher</a:t>
            </a:r>
            <a:endParaRPr lang="en-US" sz="19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3023" y="4244467"/>
            <a:ext cx="333367" cy="3810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583396" y="4245812"/>
            <a:ext cx="4998714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Monoalphabetic Cipher</a:t>
            </a:r>
            <a:endParaRPr lang="en-US" sz="19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9211" y="4715359"/>
            <a:ext cx="380990" cy="3810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583396" y="4716705"/>
            <a:ext cx="4998714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Vigenère Cipher</a:t>
            </a:r>
            <a:endParaRPr lang="en-US" sz="1900" dirty="0"/>
          </a:p>
        </p:txBody>
      </p:sp>
      <p:sp>
        <p:nvSpPr>
          <p:cNvPr id="25" name="Shape 17"/>
          <p:cNvSpPr/>
          <p:nvPr/>
        </p:nvSpPr>
        <p:spPr>
          <a:xfrm>
            <a:off x="7836895" y="2001837"/>
            <a:ext cx="12700" cy="919956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6" name="Shape 18"/>
          <p:cNvSpPr/>
          <p:nvPr/>
        </p:nvSpPr>
        <p:spPr>
          <a:xfrm>
            <a:off x="9706327" y="2001837"/>
            <a:ext cx="12700" cy="919956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7" name="Text 19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100" spc="84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03</a:t>
            </a:r>
            <a:endParaRPr lang="en-US" sz="10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CD26E62-438A-464C-07BF-F31CAEF3836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flipH="1">
            <a:off x="7287867" y="6242176"/>
            <a:ext cx="4836919" cy="6220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0621"/>
            <a:ext cx="10972526" cy="59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4400" kern="100" spc="-53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What is Transposition Cipher?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09585" y="1450380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705967"/>
            <a:ext cx="380990" cy="381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2264767"/>
            <a:ext cx="5333867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Transposition rearranges the positions of characters.</a:t>
            </a:r>
            <a:endParaRPr lang="en-US" sz="1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2687638"/>
            <a:ext cx="380990" cy="381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9585" y="3246437"/>
            <a:ext cx="5333867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Characters themselves are not replaced.</a:t>
            </a:r>
            <a:endParaRPr lang="en-US" sz="15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5" y="3669308"/>
            <a:ext cx="380990" cy="3810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09585" y="4228108"/>
            <a:ext cx="5333867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The order of characters changes according to a key or rule.</a:t>
            </a:r>
            <a:endParaRPr lang="en-US" sz="1500" dirty="0"/>
          </a:p>
        </p:txBody>
      </p:sp>
      <p:sp>
        <p:nvSpPr>
          <p:cNvPr id="10" name="Shape 5"/>
          <p:cNvSpPr/>
          <p:nvPr/>
        </p:nvSpPr>
        <p:spPr>
          <a:xfrm>
            <a:off x="6248244" y="1705967"/>
            <a:ext cx="5333867" cy="2792611"/>
          </a:xfrm>
          <a:prstGeom prst="rect">
            <a:avLst/>
          </a:prstGeom>
          <a:solidFill>
            <a:srgbClr val="0E1F40"/>
          </a:solidFill>
          <a:ln/>
        </p:spPr>
      </p:sp>
      <p:sp>
        <p:nvSpPr>
          <p:cNvPr id="11" name="Text 6"/>
          <p:cNvSpPr/>
          <p:nvPr/>
        </p:nvSpPr>
        <p:spPr>
          <a:xfrm>
            <a:off x="6476838" y="1936790"/>
            <a:ext cx="5105272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93" dirty="0">
                <a:solidFill>
                  <a:srgbClr val="D5D5D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PLAINTEXT: HELLO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6476838" y="2276475"/>
            <a:ext cx="4876678" cy="31651"/>
          </a:xfrm>
          <a:prstGeom prst="roundRect">
            <a:avLst>
              <a:gd name="adj" fmla="val 49998"/>
            </a:avLst>
          </a:prstGeom>
          <a:solidFill>
            <a:srgbClr val="3F3F3F"/>
          </a:solidFill>
          <a:ln/>
        </p:spPr>
      </p:sp>
      <p:sp>
        <p:nvSpPr>
          <p:cNvPr id="13" name="Text 8"/>
          <p:cNvSpPr/>
          <p:nvPr/>
        </p:nvSpPr>
        <p:spPr>
          <a:xfrm>
            <a:off x="6476838" y="2468563"/>
            <a:ext cx="5105272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Transposition: Rearrange positions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6476838" y="2899370"/>
            <a:ext cx="4876678" cy="31651"/>
          </a:xfrm>
          <a:prstGeom prst="roundRect">
            <a:avLst>
              <a:gd name="adj" fmla="val 49998"/>
            </a:avLst>
          </a:prstGeom>
          <a:solidFill>
            <a:srgbClr val="3F3F3F"/>
          </a:solidFill>
          <a:ln/>
        </p:spPr>
      </p:sp>
      <p:sp>
        <p:nvSpPr>
          <p:cNvPr id="15" name="Text 10"/>
          <p:cNvSpPr/>
          <p:nvPr/>
        </p:nvSpPr>
        <p:spPr>
          <a:xfrm>
            <a:off x="6476838" y="3091458"/>
            <a:ext cx="5105272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Ciphertext: LHOEL</a:t>
            </a:r>
            <a:endParaRPr lang="en-US" sz="15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5" y="5371108"/>
            <a:ext cx="380990" cy="3810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09585" y="5931241"/>
            <a:ext cx="5333867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Rail Fence Cipher</a:t>
            </a:r>
            <a:endParaRPr lang="en-US" sz="19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244" y="5371108"/>
            <a:ext cx="380990" cy="3810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248244" y="5931241"/>
            <a:ext cx="5333867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Columnar Transposition Cipher</a:t>
            </a:r>
            <a:endParaRPr lang="en-US" sz="1900" dirty="0"/>
          </a:p>
        </p:txBody>
      </p:sp>
      <p:sp>
        <p:nvSpPr>
          <p:cNvPr id="20" name="Text 13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100" spc="84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04</a:t>
            </a:r>
            <a:endParaRPr lang="en-US" sz="10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9AA1509-9774-46B8-C2DD-B146C05D1B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V="1">
            <a:off x="9231029" y="6218011"/>
            <a:ext cx="2960666" cy="59789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0621"/>
            <a:ext cx="9509482" cy="597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4400" kern="100" spc="-53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Substitution vs Transposition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9067" y="670421"/>
            <a:ext cx="476238" cy="47625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9585" y="1431330"/>
            <a:ext cx="2743131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686917"/>
          <a:ext cx="10972526" cy="2792539"/>
        </p:xfrm>
        <a:graphic>
          <a:graphicData uri="http://schemas.openxmlformats.org/drawingml/2006/table">
            <a:tbl>
              <a:tblPr/>
              <a:tblGrid>
                <a:gridCol w="3072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0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01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88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100" spc="126" dirty="0">
                          <a:solidFill>
                            <a:srgbClr val="DADADA"/>
                          </a:solidFill>
                          <a:latin typeface="Michroma" pitchFamily="34" charset="0"/>
                          <a:ea typeface="Michroma" pitchFamily="34" charset="-122"/>
                          <a:cs typeface="Michroma" pitchFamily="34" charset="-120"/>
                        </a:rPr>
                        <a:t>FEATURE</a:t>
                      </a:r>
                      <a:endParaRPr lang="en-US" sz="1050" dirty="0">
                        <a:latin typeface="Michroma" charset="0"/>
                        <a:ea typeface="Michroma" charset="0"/>
                        <a:cs typeface="Michroma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100" spc="126" dirty="0">
                          <a:solidFill>
                            <a:srgbClr val="DADADA"/>
                          </a:solidFill>
                          <a:latin typeface="Michroma" pitchFamily="34" charset="0"/>
                          <a:ea typeface="Michroma" pitchFamily="34" charset="-122"/>
                          <a:cs typeface="Michroma" pitchFamily="34" charset="-120"/>
                        </a:rPr>
                        <a:t>SUBSTITUTION</a:t>
                      </a:r>
                      <a:endParaRPr lang="en-US" sz="1050" dirty="0">
                        <a:latin typeface="Michroma" charset="0"/>
                        <a:ea typeface="Michroma" charset="0"/>
                        <a:cs typeface="Michroma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100" spc="126" dirty="0">
                          <a:solidFill>
                            <a:srgbClr val="DADADA"/>
                          </a:solidFill>
                          <a:latin typeface="Michroma" pitchFamily="34" charset="0"/>
                          <a:ea typeface="Michroma" pitchFamily="34" charset="-122"/>
                          <a:cs typeface="Michroma" pitchFamily="34" charset="-120"/>
                        </a:rPr>
                        <a:t>TRANSPOSITION</a:t>
                      </a:r>
                      <a:endParaRPr lang="en-US" sz="1050" dirty="0">
                        <a:latin typeface="Michroma" charset="0"/>
                        <a:ea typeface="Michroma" charset="0"/>
                        <a:cs typeface="Michroma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Basic operation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Replaces characters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Rearranges characters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Character identity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Changes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Remains same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Character positions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Mostly preserved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Changed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Example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Caesar Cipher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Rail Fence Cipher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365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Main effect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Changes symbols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5D5D5"/>
                          </a:solidFill>
                          <a:latin typeface="Exo" pitchFamily="34" charset="0"/>
                          <a:ea typeface="Exo" pitchFamily="34" charset="-122"/>
                          <a:cs typeface="Exo" pitchFamily="34" charset="-120"/>
                        </a:rPr>
                        <a:t>Changes order</a:t>
                      </a:r>
                      <a:endParaRPr lang="en-US" sz="1500" dirty="0">
                        <a:latin typeface="Exo" charset="0"/>
                        <a:ea typeface="Exo" charset="0"/>
                        <a:cs typeface="Exo" charset="0"/>
                      </a:endParaRPr>
                    </a:p>
                  </a:txBody>
                  <a:tcPr marL="177796" marR="177796" marT="101598" marB="101598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100" spc="84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05</a:t>
            </a:r>
            <a:endParaRPr lang="en-US" sz="10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E5003A-8EA9-1FC5-A00D-D754CC0464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7200199" y="6033044"/>
            <a:ext cx="4991801" cy="8249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85" y="599821"/>
            <a:ext cx="3403515" cy="1793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4400" kern="100" spc="-53" dirty="0">
                <a:solidFill>
                  <a:srgbClr val="ECECEC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Security Strength of Substitution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584185" y="2595364"/>
            <a:ext cx="850779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850932"/>
            <a:ext cx="380990" cy="381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93770" y="2850952"/>
            <a:ext cx="2793930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Makes the original characters difficult to recognize.</a:t>
            </a:r>
            <a:endParaRPr lang="en-US" sz="1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3622159"/>
            <a:ext cx="380990" cy="381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93770" y="3622179"/>
            <a:ext cx="2793930" cy="811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Simple substitution ciphers can be vulnerable to frequency analysis.</a:t>
            </a:r>
            <a:endParaRPr lang="en-US" sz="15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5" y="4663857"/>
            <a:ext cx="380990" cy="3810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93770" y="4663877"/>
            <a:ext cx="2793930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Stronger substitution methods use larger or changing keys.</a:t>
            </a:r>
            <a:endParaRPr lang="en-US" sz="15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5" y="5435183"/>
            <a:ext cx="380990" cy="3810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93770" y="5435203"/>
            <a:ext cx="2793930" cy="811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Vigenère Cipher provides better security than simple Caesar Cipher.</a:t>
            </a:r>
            <a:endParaRPr lang="en-US" sz="1500" dirty="0"/>
          </a:p>
        </p:txBody>
      </p:sp>
      <p:sp>
        <p:nvSpPr>
          <p:cNvPr id="12" name="Shape 6"/>
          <p:cNvSpPr/>
          <p:nvPr/>
        </p:nvSpPr>
        <p:spPr>
          <a:xfrm>
            <a:off x="4470288" y="0"/>
            <a:ext cx="7721407" cy="6858000"/>
          </a:xfrm>
          <a:prstGeom prst="rect">
            <a:avLst/>
          </a:prstGeom>
          <a:solidFill>
            <a:srgbClr val="0E1F40"/>
          </a:solidFill>
          <a:ln/>
        </p:spPr>
      </p:sp>
      <p:sp>
        <p:nvSpPr>
          <p:cNvPr id="13" name="Shape 7"/>
          <p:cNvSpPr/>
          <p:nvPr/>
        </p:nvSpPr>
        <p:spPr>
          <a:xfrm>
            <a:off x="5003675" y="2152650"/>
            <a:ext cx="3251119" cy="1894780"/>
          </a:xfrm>
          <a:custGeom>
            <a:avLst/>
            <a:gdLst/>
            <a:ahLst/>
            <a:cxnLst/>
            <a:rect l="l" t="t" r="r" b="b"/>
            <a:pathLst>
              <a:path w="3251119" h="1894780">
                <a:moveTo>
                  <a:pt x="9525" y="0"/>
                </a:moveTo>
                <a:lnTo>
                  <a:pt x="3251119" y="0"/>
                </a:lnTo>
                <a:lnTo>
                  <a:pt x="3251119" y="1894780"/>
                </a:lnTo>
                <a:lnTo>
                  <a:pt x="9525" y="1894780"/>
                </a:lnTo>
                <a:arcTo wR="9525" hR="9525" stAng="5400000" swAng="5400000"/>
                <a:lnTo>
                  <a:pt x="0" y="9525"/>
                </a:lnTo>
                <a:arcTo wR="9525" hR="9525" stAng="10800000" swAng="5400000"/>
                <a:close/>
              </a:path>
            </a:pathLst>
          </a:custGeom>
          <a:solidFill>
            <a:srgbClr val="241B55"/>
          </a:solidFill>
          <a:ln/>
        </p:spPr>
      </p:sp>
      <p:sp>
        <p:nvSpPr>
          <p:cNvPr id="14" name="Text 8"/>
          <p:cNvSpPr/>
          <p:nvPr/>
        </p:nvSpPr>
        <p:spPr>
          <a:xfrm>
            <a:off x="5283068" y="2595880"/>
            <a:ext cx="2692333" cy="716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6000" b="1" kern="100" spc="-240" dirty="0">
                <a:solidFill>
                  <a:srgbClr val="FFFFFF"/>
                </a:solidFill>
                <a:latin typeface="MuseoModerno Bold" pitchFamily="34" charset="0"/>
                <a:ea typeface="MuseoModerno Bold" pitchFamily="34" charset="-122"/>
                <a:cs typeface="MuseoModerno Bold" pitchFamily="34" charset="-120"/>
              </a:rPr>
              <a:t>HELLO</a:t>
            </a:r>
            <a:endParaRPr lang="en-US" sz="6000" dirty="0"/>
          </a:p>
        </p:txBody>
      </p:sp>
      <p:sp>
        <p:nvSpPr>
          <p:cNvPr id="15" name="Text 9"/>
          <p:cNvSpPr/>
          <p:nvPr/>
        </p:nvSpPr>
        <p:spPr>
          <a:xfrm>
            <a:off x="5003675" y="3421360"/>
            <a:ext cx="3251119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LL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8254793" y="2152650"/>
            <a:ext cx="3251119" cy="1894780"/>
          </a:xfrm>
          <a:custGeom>
            <a:avLst/>
            <a:gdLst/>
            <a:ahLst/>
            <a:cxnLst/>
            <a:rect l="l" t="t" r="r" b="b"/>
            <a:pathLst>
              <a:path w="3251119" h="1894780">
                <a:moveTo>
                  <a:pt x="0" y="0"/>
                </a:moveTo>
                <a:lnTo>
                  <a:pt x="3241594" y="0"/>
                </a:lnTo>
                <a:arcTo wR="9525" hR="9525" stAng="16200000" swAng="5400000"/>
                <a:lnTo>
                  <a:pt x="3251119" y="1885255"/>
                </a:lnTo>
                <a:arcTo wR="9525" hR="9525" stAng="0" swAng="5400000"/>
                <a:lnTo>
                  <a:pt x="0" y="1894780"/>
                </a:lnTo>
                <a:lnTo>
                  <a:pt x="0" y="0"/>
                </a:lnTo>
                <a:close/>
              </a:path>
            </a:pathLst>
          </a:custGeom>
          <a:solidFill>
            <a:srgbClr val="07303A"/>
          </a:solidFill>
          <a:ln/>
        </p:spPr>
      </p:sp>
      <p:sp>
        <p:nvSpPr>
          <p:cNvPr id="17" name="Text 11"/>
          <p:cNvSpPr/>
          <p:nvPr/>
        </p:nvSpPr>
        <p:spPr>
          <a:xfrm>
            <a:off x="8534187" y="2595880"/>
            <a:ext cx="2692333" cy="716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6000" b="1" kern="100" spc="-240" dirty="0">
                <a:solidFill>
                  <a:srgbClr val="FFFFFF"/>
                </a:solidFill>
                <a:latin typeface="MuseoModerno Bold" pitchFamily="34" charset="0"/>
                <a:ea typeface="MuseoModerno Bold" pitchFamily="34" charset="-122"/>
                <a:cs typeface="MuseoModerno Bold" pitchFamily="34" charset="-120"/>
              </a:rPr>
              <a:t>KHOOR</a:t>
            </a:r>
            <a:endParaRPr lang="en-US" sz="6000" dirty="0"/>
          </a:p>
        </p:txBody>
      </p:sp>
      <p:sp>
        <p:nvSpPr>
          <p:cNvPr id="18" name="Text 12"/>
          <p:cNvSpPr/>
          <p:nvPr/>
        </p:nvSpPr>
        <p:spPr>
          <a:xfrm>
            <a:off x="8254793" y="3421360"/>
            <a:ext cx="3251119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OO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7181968" y="4272855"/>
            <a:ext cx="2145651" cy="38100"/>
          </a:xfrm>
          <a:prstGeom prst="roundRect">
            <a:avLst>
              <a:gd name="adj" fmla="val 49999"/>
            </a:avLst>
          </a:prstGeom>
          <a:solidFill>
            <a:srgbClr val="9BE1FF"/>
          </a:solidFill>
          <a:ln/>
        </p:spPr>
      </p:sp>
      <p:sp>
        <p:nvSpPr>
          <p:cNvPr id="20" name="Text 14"/>
          <p:cNvSpPr/>
          <p:nvPr/>
        </p:nvSpPr>
        <p:spPr>
          <a:xfrm>
            <a:off x="4698882" y="4536380"/>
            <a:ext cx="7111822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Repeated letters can reveal patterns.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8248444" y="2152650"/>
            <a:ext cx="12700" cy="1894780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22" name="Text 16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100" spc="84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40" cy="6858000"/>
          </a:xfrm>
          <a:prstGeom prst="rect">
            <a:avLst/>
          </a:prstGeom>
          <a:solidFill>
            <a:srgbClr val="0E1F40"/>
          </a:solidFill>
          <a:ln/>
        </p:spPr>
      </p:sp>
      <p:sp>
        <p:nvSpPr>
          <p:cNvPr id="3" name="Text 1"/>
          <p:cNvSpPr/>
          <p:nvPr/>
        </p:nvSpPr>
        <p:spPr>
          <a:xfrm>
            <a:off x="380990" y="447421"/>
            <a:ext cx="4069058" cy="1793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4400" kern="100" spc="-53" dirty="0">
                <a:solidFill>
                  <a:srgbClr val="D5D5D5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Security Strength of Transposition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80990" y="2442964"/>
            <a:ext cx="1017165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390" y="2698532"/>
            <a:ext cx="380990" cy="381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0575" y="2698552"/>
            <a:ext cx="3459473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Hides the original order of characters.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390" y="3248402"/>
            <a:ext cx="380990" cy="381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90575" y="3248422"/>
            <a:ext cx="3459473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Character frequencies remain unchanged.</a:t>
            </a:r>
            <a:endParaRPr lang="en-US" sz="1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390" y="4068743"/>
            <a:ext cx="380990" cy="381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90575" y="4068762"/>
            <a:ext cx="3459473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This can make frequency analysis less effective by itself.</a:t>
            </a:r>
            <a:endParaRPr lang="en-US" sz="15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390" y="4889083"/>
            <a:ext cx="380990" cy="3810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90575" y="4889103"/>
            <a:ext cx="3459473" cy="811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Simple transposition ciphers can still be broken if the method or key is discovered.</a:t>
            </a:r>
            <a:endParaRPr lang="en-US" sz="1500" dirty="0"/>
          </a:p>
        </p:txBody>
      </p:sp>
      <p:sp>
        <p:nvSpPr>
          <p:cNvPr id="13" name="Shape 7"/>
          <p:cNvSpPr/>
          <p:nvPr/>
        </p:nvSpPr>
        <p:spPr>
          <a:xfrm>
            <a:off x="5440524" y="406400"/>
            <a:ext cx="3185041" cy="1443534"/>
          </a:xfrm>
          <a:custGeom>
            <a:avLst/>
            <a:gdLst/>
            <a:ahLst/>
            <a:cxnLst/>
            <a:rect l="l" t="t" r="r" b="b"/>
            <a:pathLst>
              <a:path w="3185041" h="1443534">
                <a:moveTo>
                  <a:pt x="9525" y="0"/>
                </a:moveTo>
                <a:lnTo>
                  <a:pt x="3185041" y="0"/>
                </a:lnTo>
                <a:lnTo>
                  <a:pt x="3185041" y="1443534"/>
                </a:lnTo>
                <a:lnTo>
                  <a:pt x="9525" y="1443534"/>
                </a:lnTo>
                <a:arcTo wR="9525" hR="9525" stAng="5400000" swAng="5400000"/>
                <a:lnTo>
                  <a:pt x="0" y="9525"/>
                </a:lnTo>
                <a:arcTo wR="9525" hR="9525" stAng="10800000" swAng="5400000"/>
                <a:close/>
              </a:path>
            </a:pathLst>
          </a:custGeom>
          <a:solidFill>
            <a:srgbClr val="241B55"/>
          </a:solidFill>
          <a:ln/>
        </p:spPr>
      </p:sp>
      <p:sp>
        <p:nvSpPr>
          <p:cNvPr id="14" name="Text 8"/>
          <p:cNvSpPr/>
          <p:nvPr/>
        </p:nvSpPr>
        <p:spPr>
          <a:xfrm>
            <a:off x="5643719" y="713422"/>
            <a:ext cx="2981846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93" dirty="0">
                <a:solidFill>
                  <a:srgbClr val="FFFFFF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PLAINTEXT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5643719" y="1043202"/>
            <a:ext cx="2778651" cy="572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4800" b="1" kern="100" spc="-192" dirty="0">
                <a:solidFill>
                  <a:srgbClr val="FFFFFF"/>
                </a:solidFill>
                <a:latin typeface="MuseoModerno Bold" pitchFamily="34" charset="0"/>
                <a:ea typeface="MuseoModerno Bold" pitchFamily="34" charset="-122"/>
                <a:cs typeface="MuseoModerno Bold" pitchFamily="34" charset="-120"/>
              </a:rPr>
              <a:t>HELLO</a:t>
            </a:r>
            <a:endParaRPr lang="en-US" sz="4800" dirty="0"/>
          </a:p>
        </p:txBody>
      </p:sp>
      <p:sp>
        <p:nvSpPr>
          <p:cNvPr id="16" name="Shape 10"/>
          <p:cNvSpPr/>
          <p:nvPr/>
        </p:nvSpPr>
        <p:spPr>
          <a:xfrm>
            <a:off x="8625565" y="406400"/>
            <a:ext cx="3185140" cy="1443534"/>
          </a:xfrm>
          <a:custGeom>
            <a:avLst/>
            <a:gdLst/>
            <a:ahLst/>
            <a:cxnLst/>
            <a:rect l="l" t="t" r="r" b="b"/>
            <a:pathLst>
              <a:path w="3185140" h="1443534">
                <a:moveTo>
                  <a:pt x="0" y="0"/>
                </a:moveTo>
                <a:lnTo>
                  <a:pt x="3175615" y="0"/>
                </a:lnTo>
                <a:arcTo wR="9525" hR="9525" stAng="16200000" swAng="5400000"/>
                <a:lnTo>
                  <a:pt x="3185140" y="1434009"/>
                </a:lnTo>
                <a:arcTo wR="9525" hR="9525" stAng="0" swAng="5400000"/>
                <a:lnTo>
                  <a:pt x="0" y="1443534"/>
                </a:lnTo>
                <a:lnTo>
                  <a:pt x="0" y="0"/>
                </a:lnTo>
                <a:close/>
              </a:path>
            </a:pathLst>
          </a:custGeom>
          <a:solidFill>
            <a:srgbClr val="0E1F40"/>
          </a:solidFill>
          <a:ln/>
        </p:spPr>
      </p:sp>
      <p:sp>
        <p:nvSpPr>
          <p:cNvPr id="17" name="Text 11"/>
          <p:cNvSpPr/>
          <p:nvPr/>
        </p:nvSpPr>
        <p:spPr>
          <a:xfrm>
            <a:off x="8828760" y="713422"/>
            <a:ext cx="2981945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93" dirty="0">
                <a:solidFill>
                  <a:srgbClr val="D5D5D5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CIPHERTEXT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8828760" y="1043202"/>
            <a:ext cx="2778750" cy="572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4800" b="1" kern="100" spc="-192" dirty="0">
                <a:solidFill>
                  <a:srgbClr val="D5D5D5"/>
                </a:solidFill>
                <a:latin typeface="MuseoModerno Bold" pitchFamily="34" charset="0"/>
                <a:ea typeface="MuseoModerno Bold" pitchFamily="34" charset="-122"/>
                <a:cs typeface="MuseoModerno Bold" pitchFamily="34" charset="-120"/>
              </a:rPr>
              <a:t>LHOEL</a:t>
            </a:r>
            <a:endParaRPr lang="en-US" sz="4800" dirty="0"/>
          </a:p>
        </p:txBody>
      </p:sp>
      <p:sp>
        <p:nvSpPr>
          <p:cNvPr id="19" name="Text 13"/>
          <p:cNvSpPr/>
          <p:nvPr/>
        </p:nvSpPr>
        <p:spPr>
          <a:xfrm>
            <a:off x="5440524" y="2027734"/>
            <a:ext cx="6370180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spcAft>
                <a:spcPts val="1350"/>
              </a:spcAft>
              <a:buNone/>
            </a:pPr>
            <a:r>
              <a:rPr lang="en-US" sz="18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Plaintext: HELLO</a:t>
            </a:r>
            <a:endParaRPr lang="en-US" sz="1800" dirty="0"/>
          </a:p>
          <a:p>
            <a:pPr marL="0" indent="0" algn="ctr">
              <a:lnSpc>
                <a:spcPct val="118000"/>
              </a:lnSpc>
              <a:buNone/>
            </a:pPr>
            <a:r>
              <a:rPr lang="en-US" sz="18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Ciphertext: LHOEL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8619215" y="406400"/>
            <a:ext cx="12700" cy="1443534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21" name="Text 15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100" spc="84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07</a:t>
            </a:r>
            <a:endParaRPr lang="en-US" sz="10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F6AA4D8-DA1E-69CC-0F44-70FFBADF91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V="1">
            <a:off x="8338504" y="5791175"/>
            <a:ext cx="3759262" cy="10690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241B55"/>
          </a:solidFill>
          <a:ln/>
        </p:spPr>
      </p:sp>
      <p:sp>
        <p:nvSpPr>
          <p:cNvPr id="3" name="Text 1"/>
          <p:cNvSpPr/>
          <p:nvPr/>
        </p:nvSpPr>
        <p:spPr>
          <a:xfrm>
            <a:off x="584185" y="599821"/>
            <a:ext cx="3860703" cy="239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4400" kern="100" spc="-53" dirty="0">
                <a:solidFill>
                  <a:srgbClr val="FFFFFF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Which Provides Better Security?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84185" y="3193256"/>
            <a:ext cx="965077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33" y="3450729"/>
            <a:ext cx="266693" cy="2667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93770" y="3448844"/>
            <a:ext cx="3251119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Neither is always better when used alone.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33" y="4144169"/>
            <a:ext cx="266693" cy="2667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93770" y="4142284"/>
            <a:ext cx="3251119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Substitution hides the identity of characters.</a:t>
            </a:r>
            <a:endParaRPr lang="en-US" sz="1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33" y="4837609"/>
            <a:ext cx="266693" cy="2667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93770" y="4835723"/>
            <a:ext cx="3251119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Transposition hides their positions.</a:t>
            </a:r>
            <a:endParaRPr lang="en-US" sz="15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33" y="5260677"/>
            <a:ext cx="266693" cy="2667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93770" y="5258792"/>
            <a:ext cx="3251119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Each has different weaknesses.</a:t>
            </a:r>
            <a:endParaRPr lang="en-US" sz="15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733" y="5683746"/>
            <a:ext cx="266693" cy="2667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93770" y="5681861"/>
            <a:ext cx="3251119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Combining both provides stronger security.</a:t>
            </a:r>
            <a:endParaRPr lang="en-US" sz="1500" dirty="0"/>
          </a:p>
        </p:txBody>
      </p:sp>
      <p:sp>
        <p:nvSpPr>
          <p:cNvPr id="15" name="Text 8"/>
          <p:cNvSpPr/>
          <p:nvPr/>
        </p:nvSpPr>
        <p:spPr>
          <a:xfrm>
            <a:off x="5308467" y="697230"/>
            <a:ext cx="6197445" cy="143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6000" b="1" kern="100" spc="-240" dirty="0">
                <a:solidFill>
                  <a:srgbClr val="ECECEC"/>
                </a:solidFill>
                <a:latin typeface="MuseoModerno Bold" pitchFamily="34" charset="0"/>
                <a:ea typeface="MuseoModerno Bold" pitchFamily="34" charset="-122"/>
                <a:cs typeface="MuseoModerno Bold" pitchFamily="34" charset="-120"/>
              </a:rPr>
              <a:t>Substitution + Transposition</a:t>
            </a:r>
            <a:endParaRPr lang="en-US" sz="6000" dirty="0"/>
          </a:p>
        </p:txBody>
      </p:sp>
      <p:sp>
        <p:nvSpPr>
          <p:cNvPr id="16" name="Shape 9"/>
          <p:cNvSpPr/>
          <p:nvPr/>
        </p:nvSpPr>
        <p:spPr>
          <a:xfrm>
            <a:off x="7384568" y="2286595"/>
            <a:ext cx="2045145" cy="38100"/>
          </a:xfrm>
          <a:prstGeom prst="roundRect">
            <a:avLst>
              <a:gd name="adj" fmla="val 49999"/>
            </a:avLst>
          </a:prstGeom>
          <a:solidFill>
            <a:srgbClr val="9BE1FF"/>
          </a:solidFill>
          <a:ln/>
        </p:spPr>
      </p:sp>
      <p:sp>
        <p:nvSpPr>
          <p:cNvPr id="17" name="Text 10"/>
          <p:cNvSpPr/>
          <p:nvPr/>
        </p:nvSpPr>
        <p:spPr>
          <a:xfrm>
            <a:off x="5308467" y="2796500"/>
            <a:ext cx="6197445" cy="214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6000" b="1" kern="100" spc="-240" dirty="0">
                <a:solidFill>
                  <a:srgbClr val="ECECEC"/>
                </a:solidFill>
                <a:latin typeface="MuseoModerno Bold" pitchFamily="34" charset="0"/>
                <a:ea typeface="MuseoModerno Bold" pitchFamily="34" charset="-122"/>
                <a:cs typeface="MuseoModerno Bold" pitchFamily="34" charset="-120"/>
              </a:rPr>
              <a:t>→ Greater Confusion and Diffusion</a:t>
            </a:r>
            <a:endParaRPr lang="en-US" sz="6000" dirty="0"/>
          </a:p>
        </p:txBody>
      </p:sp>
      <p:sp>
        <p:nvSpPr>
          <p:cNvPr id="18" name="Text 11"/>
          <p:cNvSpPr/>
          <p:nvPr/>
        </p:nvSpPr>
        <p:spPr>
          <a:xfrm>
            <a:off x="5308467" y="5631259"/>
            <a:ext cx="6197445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Modern encryption algorithms use sophisticated combinations of these principles.</a:t>
            </a:r>
            <a:endParaRPr lang="en-US" sz="1500" dirty="0"/>
          </a:p>
        </p:txBody>
      </p:sp>
      <p:sp>
        <p:nvSpPr>
          <p:cNvPr id="19" name="Text 12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100" spc="84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08</a:t>
            </a:r>
            <a:endParaRPr lang="en-US" sz="10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4FD35F0-E554-FA47-1E6B-C82F84D32A2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V="1">
            <a:off x="8407140" y="6160770"/>
            <a:ext cx="3646197" cy="58749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867253" cy="6858000"/>
          </a:xfrm>
          <a:prstGeom prst="rect">
            <a:avLst/>
          </a:prstGeom>
          <a:solidFill>
            <a:srgbClr val="0E1F40"/>
          </a:solidFill>
          <a:ln/>
        </p:spPr>
      </p:sp>
      <p:sp>
        <p:nvSpPr>
          <p:cNvPr id="3" name="Text 1"/>
          <p:cNvSpPr/>
          <p:nvPr/>
        </p:nvSpPr>
        <p:spPr>
          <a:xfrm>
            <a:off x="584185" y="599821"/>
            <a:ext cx="4851279" cy="1195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4400" kern="100" spc="-53" dirty="0">
                <a:solidFill>
                  <a:srgbClr val="D5D5D5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Real-World Cryptography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84185" y="1997472"/>
            <a:ext cx="1212720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253040"/>
            <a:ext cx="380990" cy="381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93770" y="2253059"/>
            <a:ext cx="4241694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Modern algorithms are much more complex than classical ciphers.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3444260"/>
            <a:ext cx="380990" cy="381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93770" y="3444280"/>
            <a:ext cx="4241694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They combine substitution-like transformations and permutation/transposition-like operations.</a:t>
            </a:r>
            <a:endParaRPr lang="en-US" sz="1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5" y="4635480"/>
            <a:ext cx="380990" cy="381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93770" y="4635500"/>
            <a:ext cx="4241694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Examples: AES and other modern block ciphers.</a:t>
            </a:r>
            <a:endParaRPr lang="en-US" sz="15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5" y="5556230"/>
            <a:ext cx="380990" cy="3810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93770" y="5556250"/>
            <a:ext cx="4241694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Multiple rounds make attacks much harder.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6807030" y="3117155"/>
            <a:ext cx="4775081" cy="649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8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Plaintext → Substitution → Permutation → Multiple Rounds → Ciphertext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100" spc="84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09</a:t>
            </a:r>
            <a:endParaRPr lang="en-US" sz="10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BDF2863-0D10-7C05-B9C1-27381E58C7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2007" y="4635480"/>
            <a:ext cx="3719993" cy="21436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5848" cy="6858000"/>
          </a:xfrm>
          <a:prstGeom prst="rect">
            <a:avLst/>
          </a:prstGeom>
          <a:solidFill>
            <a:srgbClr val="241B55"/>
          </a:solidFill>
          <a:ln/>
        </p:spPr>
      </p:sp>
      <p:sp>
        <p:nvSpPr>
          <p:cNvPr id="3" name="Text 1"/>
          <p:cNvSpPr/>
          <p:nvPr/>
        </p:nvSpPr>
        <p:spPr>
          <a:xfrm>
            <a:off x="482588" y="523621"/>
            <a:ext cx="5206870" cy="1195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4400" kern="100" spc="-53" dirty="0">
                <a:solidFill>
                  <a:srgbClr val="FFFFFF"/>
                </a:solidFill>
                <a:latin typeface="Exo SemiBold" pitchFamily="34" charset="0"/>
                <a:ea typeface="Exo SemiBold" pitchFamily="34" charset="-122"/>
                <a:cs typeface="Exo SemiBold" pitchFamily="34" charset="-120"/>
              </a:rPr>
              <a:t>Conclusion – Which Is Better?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82588" y="1921272"/>
            <a:ext cx="1301717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87" y="2176840"/>
            <a:ext cx="380990" cy="381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2173" y="2176859"/>
            <a:ext cx="4597285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Substitution changes the symbols.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87" y="2959080"/>
            <a:ext cx="380990" cy="381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2173" y="2959100"/>
            <a:ext cx="4597285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Transposition changes their positions.</a:t>
            </a:r>
            <a:endParaRPr lang="en-US" sz="1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987" y="3741420"/>
            <a:ext cx="380990" cy="381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2173" y="3741440"/>
            <a:ext cx="4597285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Both provide limited security when used alone.</a:t>
            </a:r>
            <a:endParaRPr lang="en-US" sz="15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987" y="4523760"/>
            <a:ext cx="380990" cy="3810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92173" y="4523780"/>
            <a:ext cx="4597285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Combining both principles provides stronger protection.</a:t>
            </a:r>
            <a:endParaRPr lang="en-US" sz="15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987" y="5576570"/>
            <a:ext cx="380990" cy="3810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92173" y="5576590"/>
            <a:ext cx="4597285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Modern cryptography uses complex transformations based on these ideas.</a:t>
            </a:r>
            <a:endParaRPr lang="en-US" sz="1500" dirty="0"/>
          </a:p>
        </p:txBody>
      </p:sp>
      <p:sp>
        <p:nvSpPr>
          <p:cNvPr id="15" name="Text 8"/>
          <p:cNvSpPr/>
          <p:nvPr/>
        </p:nvSpPr>
        <p:spPr>
          <a:xfrm>
            <a:off x="6787980" y="1629767"/>
            <a:ext cx="4921127" cy="811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D5D5D5"/>
                </a:solidFill>
                <a:latin typeface="Exo" pitchFamily="34" charset="0"/>
                <a:ea typeface="Exo" pitchFamily="34" charset="-122"/>
                <a:cs typeface="Exo" pitchFamily="34" charset="-120"/>
              </a:rPr>
              <a:t>“Security does not come from substitution or transposition alone, but from combining strong cryptographic techniques.”</a:t>
            </a:r>
            <a:endParaRPr lang="en-US" sz="1500" dirty="0"/>
          </a:p>
        </p:txBody>
      </p:sp>
      <p:sp>
        <p:nvSpPr>
          <p:cNvPr id="16" name="Shape 9"/>
          <p:cNvSpPr/>
          <p:nvPr/>
        </p:nvSpPr>
        <p:spPr>
          <a:xfrm>
            <a:off x="6502237" y="1553567"/>
            <a:ext cx="28574" cy="963811"/>
          </a:xfrm>
          <a:prstGeom prst="roundRect">
            <a:avLst>
              <a:gd name="adj" fmla="val 50000"/>
            </a:avLst>
          </a:prstGeom>
          <a:solidFill>
            <a:srgbClr val="9BE1FF"/>
          </a:solidFill>
          <a:ln/>
        </p:spPr>
      </p:sp>
      <p:sp>
        <p:nvSpPr>
          <p:cNvPr id="17" name="Shape 10"/>
          <p:cNvSpPr/>
          <p:nvPr/>
        </p:nvSpPr>
        <p:spPr>
          <a:xfrm>
            <a:off x="6502237" y="2741216"/>
            <a:ext cx="1301717" cy="31651"/>
          </a:xfrm>
          <a:prstGeom prst="roundRect">
            <a:avLst>
              <a:gd name="adj" fmla="val 49998"/>
            </a:avLst>
          </a:prstGeom>
          <a:solidFill>
            <a:srgbClr val="9BE1FF"/>
          </a:solidFill>
          <a:ln/>
        </p:spPr>
      </p:sp>
      <p:sp>
        <p:nvSpPr>
          <p:cNvPr id="18" name="Text 11"/>
          <p:cNvSpPr/>
          <p:nvPr/>
        </p:nvSpPr>
        <p:spPr>
          <a:xfrm>
            <a:off x="6502237" y="3243183"/>
            <a:ext cx="5206870" cy="214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6000" b="1" kern="100" spc="-240" dirty="0">
                <a:solidFill>
                  <a:srgbClr val="ECECEC"/>
                </a:solidFill>
                <a:latin typeface="MuseoModerno Bold" pitchFamily="34" charset="0"/>
                <a:ea typeface="MuseoModerno Bold" pitchFamily="34" charset="-122"/>
                <a:cs typeface="MuseoModerno Bold" pitchFamily="34" charset="-120"/>
              </a:rPr>
              <a:t>Thank You – Any Questions?</a:t>
            </a:r>
            <a:endParaRPr lang="en-US" sz="6000" dirty="0"/>
          </a:p>
        </p:txBody>
      </p:sp>
      <p:sp>
        <p:nvSpPr>
          <p:cNvPr id="19" name="Text 12"/>
          <p:cNvSpPr/>
          <p:nvPr/>
        </p:nvSpPr>
        <p:spPr>
          <a:xfrm>
            <a:off x="11819634" y="6458545"/>
            <a:ext cx="3720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100" spc="84" dirty="0">
                <a:solidFill>
                  <a:srgbClr val="9D9D9D"/>
                </a:solidFill>
                <a:latin typeface="Fira Mono" pitchFamily="34" charset="0"/>
                <a:ea typeface="Fira Mono" pitchFamily="34" charset="-122"/>
                <a:cs typeface="Fira Mono" pitchFamily="34" charset="-120"/>
              </a:rPr>
              <a:t>10</a:t>
            </a:r>
            <a:endParaRPr lang="en-US" sz="10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D0FE9AB-1EF8-6D64-B4FE-FF860D95B6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8780" y="6075660"/>
            <a:ext cx="3565152" cy="7823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SREE RUTHIN REDDY</cp:lastModifiedBy>
  <cp:revision>4</cp:revision>
  <dcterms:created xsi:type="dcterms:W3CDTF">2026-10-07T17:30:30Z</dcterms:created>
  <dcterms:modified xsi:type="dcterms:W3CDTF">2026-10-07T17:40:44Z</dcterms:modified>
</cp:coreProperties>
</file>